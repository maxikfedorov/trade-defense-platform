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9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1E3C1-6BEE-4CE1-95E7-DA943B0B2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3F95F0-FAD0-4DFC-9CA8-CD7F0434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EEC1CE-D118-4D8B-BA44-7301D382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B83D6A-7396-497E-A241-D2CFF204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CA7DC8-BDCE-4A4D-8280-C8AF93C8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24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1D311-8527-4480-8C96-2F5FB233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7D8A8-C65A-4FED-B18C-8AD0898C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88B70-D06B-4EB3-AB94-B2B55336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0B1C36-904E-4E50-9187-52CC59219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595D5-ADC7-41BC-A743-11191A32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82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01855-6321-4AEB-96B2-293FA5DD6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690A3F-7216-44A6-BF06-265078983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B5A464-E5CC-4757-AD0C-CC0564B6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FCCBA-7BEA-48AB-B756-8EA047B7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0F96BE-D0FB-445E-85E5-86EF6047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50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1AB46-0FE9-432A-83D5-7EE39C3E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63981-E2A6-4908-B953-F881EEC18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451CB3-B734-4117-9634-D624D23C5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FCFB9A-278B-4321-AE23-AEC92064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114ED1-6A6B-45E4-BBF1-8A9B68408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E38D55-B3BD-41E0-ADF5-6EBC16F7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99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60837-09E8-4976-B12E-7E104D1B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05BBE1-9825-4B51-A184-B76E91836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B881F2-0E3B-47F1-91F7-98AF3EB64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79BD9A8-A6FA-476B-BE4D-93531C1AD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796AF7-F70C-4E6E-B614-1F5214063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6A5E67B-C0E8-492F-88F1-187B35EF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344E70-F9FC-4361-A23C-73985B1C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6513C5-3951-4615-B5ED-DDB41E70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87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B69E0-6154-4F91-9B0B-B6680D57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6405F5-DA0D-4964-B20F-84CAD2FC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C7369C0-FF2E-4073-9A69-8949F4389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E1008A-3B9F-465B-95DE-F4CE77A36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80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31374D4-DFD7-4390-A270-E2DF92FD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D026A1-C6FB-47F3-B105-6444BD46B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5D0D22-28D6-4796-AE40-E3529721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38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D561-8C8E-46D8-81FF-9D316765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740953-C678-445D-A987-03E4C100E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6229E5-7BC5-44B0-BB3B-86E397220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DAFB9C-2D0B-4881-BB29-F82C073E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57D530-34DB-4E53-A06A-A3D556E9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C4116D-593D-4BFE-8950-4889DF14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82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8B497-4708-4D99-ACA3-06C6A07F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C1F63B-61EE-4908-BBA1-C48D01A57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4268A2-6B35-4519-B7DB-9ED053C23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1C497E-5722-434A-933F-A1B7F791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5CCD8A-5833-4708-AC5E-E86BF420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D696A0-2B64-434E-9669-7AA21D56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95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B851A-95A0-4B0F-BC79-15B983BB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1BE623-2FF0-41F3-BE0C-9256FAF36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F99387-48C2-4E93-BAA5-6A01BEBF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17AA24-3914-4896-B8E1-1808D201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13AA18-005F-4A58-AF9D-80CDE909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10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2738D67-7E0F-46D9-954A-0D45716B57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1E1721-8C81-42E4-8EB7-6C1179C8F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FADDCF-1FD3-4489-B4B0-375AC8FDA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241D23-13DC-4C08-A58E-45619872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E255A7-B4D1-46FD-B778-FD19A511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90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2CBCF-4412-4855-AAA3-2844B7CC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7E2F8E-6C7A-4684-AB82-4FA597361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8A042D-A7DE-4FBB-8933-447820694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8BE26-4013-4188-B86C-EC5912F63CF4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8BEAA7-4C6C-41F6-B815-819FAE4FF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60534-41B5-4E00-9AAF-2B7E4934D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6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maxikfedorov/trade-defense-platfor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F54A5-F55E-493D-AF60-CA5E68C5B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482" y="1183341"/>
            <a:ext cx="7888941" cy="1026739"/>
          </a:xfrm>
        </p:spPr>
        <p:txBody>
          <a:bodyPr/>
          <a:lstStyle/>
          <a:p>
            <a:r>
              <a:rPr lang="en-US" dirty="0"/>
              <a:t>Trade Defense Platform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6D47EF4-5860-44BE-BAAA-4E9D41E33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627038"/>
              </p:ext>
            </p:extLst>
          </p:nvPr>
        </p:nvGraphicFramePr>
        <p:xfrm>
          <a:off x="683708" y="4187214"/>
          <a:ext cx="7685039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1544">
                  <a:extLst>
                    <a:ext uri="{9D8B030D-6E8A-4147-A177-3AD203B41FA5}">
                      <a16:colId xmlns:a16="http://schemas.microsoft.com/office/drawing/2014/main" val="3180866604"/>
                    </a:ext>
                  </a:extLst>
                </a:gridCol>
                <a:gridCol w="3783495">
                  <a:extLst>
                    <a:ext uri="{9D8B030D-6E8A-4147-A177-3AD203B41FA5}">
                      <a16:colId xmlns:a16="http://schemas.microsoft.com/office/drawing/2014/main" val="3449201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1" dirty="0"/>
                        <a:t>Команда разработки: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Фёдоров Максим</a:t>
                      </a:r>
                    </a:p>
                    <a:p>
                      <a:r>
                        <a:rPr lang="ru-RU" sz="2400" dirty="0" err="1"/>
                        <a:t>Полубарьев</a:t>
                      </a:r>
                      <a:r>
                        <a:rPr lang="ru-RU" sz="2400" dirty="0"/>
                        <a:t> Михаил</a:t>
                      </a:r>
                    </a:p>
                    <a:p>
                      <a:r>
                        <a:rPr lang="ru-RU" sz="2400" dirty="0"/>
                        <a:t>Фёдоров Дмитрий</a:t>
                      </a:r>
                    </a:p>
                    <a:p>
                      <a:r>
                        <a:rPr lang="ru-RU" sz="2400" dirty="0"/>
                        <a:t>Сомов Никита</a:t>
                      </a:r>
                    </a:p>
                    <a:p>
                      <a:r>
                        <a:rPr lang="ru-RU" sz="2400" dirty="0"/>
                        <a:t>Самсоненко Станислав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215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9FF5850-80F8-4224-9108-DF14A4A33AE7}"/>
              </a:ext>
            </a:extLst>
          </p:cNvPr>
          <p:cNvSpPr txBox="1"/>
          <p:nvPr/>
        </p:nvSpPr>
        <p:spPr>
          <a:xfrm>
            <a:off x="683708" y="2418523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НейроСанитары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6CB06-3E57-4A76-B09C-6B840C04A2A4}"/>
              </a:ext>
            </a:extLst>
          </p:cNvPr>
          <p:cNvSpPr txBox="1"/>
          <p:nvPr/>
        </p:nvSpPr>
        <p:spPr>
          <a:xfrm>
            <a:off x="683708" y="2811632"/>
            <a:ext cx="257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РТУ МИРЭА – ИИИ / ИИТ</a:t>
            </a:r>
          </a:p>
        </p:txBody>
      </p:sp>
    </p:spTree>
    <p:extLst>
      <p:ext uri="{BB962C8B-B14F-4D97-AF65-F5344CB8AC3E}">
        <p14:creationId xmlns:p14="http://schemas.microsoft.com/office/powerpoint/2010/main" val="292454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C60BE-ED6D-4F76-A595-A369F474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цели и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4A977E-2D03-4402-BDA3-6CA2186B0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1" dirty="0"/>
              <a:t>Цель:</a:t>
            </a:r>
            <a:r>
              <a:rPr lang="ru-RU" sz="2000" dirty="0"/>
              <a:t> </a:t>
            </a:r>
            <a:r>
              <a:rPr lang="ru-RU" sz="2000" b="0" i="0" u="none" strike="noStrike" baseline="0" dirty="0">
                <a:latin typeface="T3Font_6"/>
              </a:rPr>
              <a:t>Разработать прототип ЕАИС, позволяющий при введении запроса в формате «наименование товара — действующий код ТН ВЭД на 6/10 знаках» получить первичный срез по возможным мерам ТТП, доступным для российских производителей данного товара.</a:t>
            </a:r>
          </a:p>
          <a:p>
            <a:pPr marL="0" indent="0" algn="l">
              <a:buNone/>
            </a:pPr>
            <a:r>
              <a:rPr lang="ru-RU" sz="2400" b="1" dirty="0">
                <a:latin typeface="T3Font_6"/>
              </a:rPr>
              <a:t>Задачи:</a:t>
            </a:r>
          </a:p>
          <a:p>
            <a:pPr algn="l"/>
            <a:r>
              <a:rPr lang="ru-RU" sz="2000" dirty="0">
                <a:latin typeface="T3Font_6"/>
              </a:rPr>
              <a:t>Анализ целевой аудитории, пользовательского опыта и других подобных сервисов</a:t>
            </a:r>
          </a:p>
          <a:p>
            <a:pPr algn="l"/>
            <a:r>
              <a:rPr lang="ru-RU" sz="2000" dirty="0">
                <a:latin typeface="T3Font_6"/>
              </a:rPr>
              <a:t>Создать прототип, решающий заявленные проблемы</a:t>
            </a:r>
          </a:p>
          <a:p>
            <a:pPr algn="l"/>
            <a:r>
              <a:rPr lang="ru-RU" sz="2000" dirty="0">
                <a:latin typeface="T3Font_6"/>
              </a:rPr>
              <a:t>Создать пользовательский интерфейс для прототипа</a:t>
            </a:r>
          </a:p>
          <a:p>
            <a:pPr algn="l"/>
            <a:r>
              <a:rPr lang="ru-RU" sz="2000" dirty="0">
                <a:latin typeface="T3Font_6"/>
              </a:rPr>
              <a:t>Рассчитать экономический эффект от внедрения ПО</a:t>
            </a:r>
          </a:p>
          <a:p>
            <a:pPr algn="l"/>
            <a:r>
              <a:rPr lang="ru-RU" sz="2000" dirty="0">
                <a:latin typeface="T3Font_6"/>
              </a:rPr>
              <a:t>Добавление в проект технологий искусственного интеллекта</a:t>
            </a:r>
          </a:p>
          <a:p>
            <a:pPr algn="l"/>
            <a:endParaRPr lang="ru-RU" sz="2000" dirty="0">
              <a:latin typeface="T3Font_6"/>
            </a:endParaRPr>
          </a:p>
          <a:p>
            <a:pPr algn="l"/>
            <a:endParaRPr lang="ru-RU" sz="2000" dirty="0">
              <a:latin typeface="T3Font_6"/>
            </a:endParaRPr>
          </a:p>
        </p:txBody>
      </p:sp>
    </p:spTree>
    <p:extLst>
      <p:ext uri="{BB962C8B-B14F-4D97-AF65-F5344CB8AC3E}">
        <p14:creationId xmlns:p14="http://schemas.microsoft.com/office/powerpoint/2010/main" val="306917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ED27C-2580-4606-B184-EB9D3170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257549"/>
            <a:ext cx="10515600" cy="746499"/>
          </a:xfrm>
        </p:spPr>
        <p:txBody>
          <a:bodyPr/>
          <a:lstStyle/>
          <a:p>
            <a:r>
              <a:rPr lang="ru-RU" dirty="0"/>
              <a:t>Функциональность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D8A908-8249-4B22-A4F8-DA6108F04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837" y="1064918"/>
            <a:ext cx="5832326" cy="553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2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E4823-A14E-48B9-89DE-408927D01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435" y="320303"/>
            <a:ext cx="10515600" cy="710639"/>
          </a:xfrm>
        </p:spPr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CE393F-75FA-415A-AE97-20FFEF861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197" y="1030942"/>
            <a:ext cx="9705606" cy="571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6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BF54C-DF6C-43D4-B14E-350039A2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939259-62A8-4040-880E-B63D943EC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Архитектура:</a:t>
            </a:r>
            <a:r>
              <a:rPr lang="ru-RU" dirty="0"/>
              <a:t> модульный монолит</a:t>
            </a:r>
          </a:p>
          <a:p>
            <a:pPr marL="0" indent="0">
              <a:buNone/>
            </a:pPr>
            <a:r>
              <a:rPr lang="ru-RU" b="1" dirty="0"/>
              <a:t>Базы данных: </a:t>
            </a:r>
            <a:r>
              <a:rPr lang="en-US" dirty="0"/>
              <a:t>PostgreSQL 16, </a:t>
            </a:r>
            <a:r>
              <a:rPr lang="en-US" dirty="0" err="1"/>
              <a:t>Qdrant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FrontEnd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en-US" dirty="0"/>
              <a:t>React + </a:t>
            </a:r>
            <a:r>
              <a:rPr lang="en-US" dirty="0" err="1"/>
              <a:t>Vite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BackEnd</a:t>
            </a:r>
            <a:r>
              <a:rPr lang="en-US" b="1" dirty="0"/>
              <a:t>: </a:t>
            </a:r>
            <a:r>
              <a:rPr lang="en-US" dirty="0"/>
              <a:t>Kotlin, </a:t>
            </a:r>
            <a:r>
              <a:rPr lang="en-US" dirty="0" err="1"/>
              <a:t>SpringBoot</a:t>
            </a:r>
            <a:r>
              <a:rPr lang="en-US" dirty="0"/>
              <a:t>, Python, </a:t>
            </a:r>
            <a:r>
              <a:rPr lang="en-US" dirty="0" err="1"/>
              <a:t>SentenceTransformers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LLM:</a:t>
            </a:r>
            <a:r>
              <a:rPr lang="en-US" dirty="0"/>
              <a:t> </a:t>
            </a:r>
            <a:r>
              <a:rPr lang="en-US" dirty="0" err="1"/>
              <a:t>deepvk</a:t>
            </a:r>
            <a:r>
              <a:rPr lang="en-US" dirty="0"/>
              <a:t>/USER-base, </a:t>
            </a:r>
            <a:r>
              <a:rPr lang="en-US" dirty="0" err="1"/>
              <a:t>YandexGPT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117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2C81B-C275-4C4F-9EE4-C5263550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технологий искусственного интеллекта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3BC4E-A6FB-4D59-AA02-3D4AE36C0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27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31B6D-72C0-4DA1-A7D6-BA23E5B6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Конкурентоспособность и перспективы внедрения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3D583-03A2-45B4-BC81-0D245951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5834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Капитальные затраты (</a:t>
            </a:r>
            <a:r>
              <a:rPr lang="en-US" b="1" dirty="0"/>
              <a:t>CAPEX, Capital Expenditure)</a:t>
            </a:r>
          </a:p>
          <a:p>
            <a:pPr marL="0" indent="0">
              <a:buNone/>
            </a:pPr>
            <a:r>
              <a:rPr lang="ru-RU" sz="2000" dirty="0"/>
              <a:t>Покупка видеокарты </a:t>
            </a:r>
            <a:r>
              <a:rPr lang="en-US" sz="2000" dirty="0"/>
              <a:t>Nvidia A30: 500 000 </a:t>
            </a:r>
            <a:r>
              <a:rPr lang="ru-RU" sz="2000" dirty="0"/>
              <a:t>рублей</a:t>
            </a:r>
          </a:p>
          <a:p>
            <a:pPr marL="0" indent="0">
              <a:buNone/>
            </a:pPr>
            <a:r>
              <a:rPr lang="ru-RU" b="1" dirty="0"/>
              <a:t>Операционные затраты </a:t>
            </a:r>
            <a:r>
              <a:rPr lang="en-US" b="1" dirty="0"/>
              <a:t>(OPEX, Operational </a:t>
            </a:r>
            <a:r>
              <a:rPr lang="en-US" b="1" dirty="0" err="1"/>
              <a:t>Expediture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ru-RU" sz="2000" dirty="0"/>
              <a:t>Электроэнергия: 8767.44 рублей за год работы</a:t>
            </a:r>
          </a:p>
          <a:p>
            <a:pPr marL="0" indent="0">
              <a:buNone/>
            </a:pPr>
            <a:r>
              <a:rPr lang="ru-RU" sz="2000" dirty="0"/>
              <a:t>Интернет соединение: 60 000 рублей в год</a:t>
            </a:r>
          </a:p>
          <a:p>
            <a:pPr marL="0" indent="0">
              <a:buNone/>
            </a:pPr>
            <a:r>
              <a:rPr lang="ru-RU" b="1" dirty="0"/>
              <a:t>Снижение операционных затрат </a:t>
            </a:r>
            <a:r>
              <a:rPr lang="en-US" b="1" dirty="0"/>
              <a:t>(OPEX)</a:t>
            </a:r>
          </a:p>
          <a:p>
            <a:pPr marL="0" indent="0">
              <a:buNone/>
            </a:pPr>
            <a:r>
              <a:rPr lang="ru-RU" sz="2000" dirty="0"/>
              <a:t>Снижение издержек на услуги персонала: 2000 р./</a:t>
            </a:r>
            <a:r>
              <a:rPr lang="ru-RU" sz="2000" dirty="0" err="1"/>
              <a:t>усл</a:t>
            </a:r>
            <a:r>
              <a:rPr lang="ru-RU" sz="2000" dirty="0"/>
              <a:t>. * 100 обр./мес. * 12 = 2 400 000 рублей в год</a:t>
            </a:r>
          </a:p>
          <a:p>
            <a:pPr marL="0" indent="0">
              <a:buNone/>
            </a:pPr>
            <a:r>
              <a:rPr lang="ru-RU" b="1" dirty="0"/>
              <a:t>Окупаемость инвестиций, </a:t>
            </a:r>
            <a:r>
              <a:rPr lang="en-US" b="1" dirty="0"/>
              <a:t>ROI (Return of Investments)</a:t>
            </a:r>
          </a:p>
          <a:p>
            <a:pPr marL="0" indent="0">
              <a:buNone/>
            </a:pPr>
            <a:r>
              <a:rPr lang="ru-RU" sz="2000" dirty="0"/>
              <a:t>Срок окупаемости проекта: 3 месяца</a:t>
            </a:r>
          </a:p>
          <a:p>
            <a:pPr marL="0" indent="0">
              <a:buNone/>
            </a:pPr>
            <a:r>
              <a:rPr lang="ru-RU" sz="2000" dirty="0"/>
              <a:t>Окупаемость проекта на горизонте 5 лет: 2 000 %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912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F2346-EEDA-4DC2-A417-67F2655E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159" y="0"/>
            <a:ext cx="5795682" cy="791322"/>
          </a:xfrm>
        </p:spPr>
        <p:txBody>
          <a:bodyPr/>
          <a:lstStyle/>
          <a:p>
            <a:r>
              <a:rPr lang="ru-RU" dirty="0"/>
              <a:t>Демонстрация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D4C79F-D23B-4493-A4AA-EE79DE46B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02" y="1859215"/>
            <a:ext cx="5077943" cy="36140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6BF617-C07E-4FC6-8964-4DEAFCCAF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293" y="1870585"/>
            <a:ext cx="5077943" cy="360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12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379AB-0FDE-461E-B2B9-F0EA9A88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EC388-B7DD-46CD-B2C8-6E9FDB999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5278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Ссылка на </a:t>
            </a:r>
            <a:r>
              <a:rPr lang="en-US" sz="2000" dirty="0"/>
              <a:t>GitHub: </a:t>
            </a:r>
            <a:r>
              <a:rPr lang="en-US" sz="2000" dirty="0">
                <a:hlinkClick r:id="rId2"/>
              </a:rPr>
              <a:t>https://github.com/maxikfedorov/trade-defense-platform</a:t>
            </a:r>
            <a:endParaRPr lang="en-US" sz="20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2BC075-42FC-46C8-BAFE-C09EC3187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846" y="1825625"/>
            <a:ext cx="4686954" cy="35056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83F875-4BD8-431B-AFC8-CB9C9E704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938671"/>
            <a:ext cx="3482008" cy="348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9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2F7A5-321D-4713-97ED-DD026F79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2686984"/>
            <a:ext cx="6246159" cy="132556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7605357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263</Words>
  <Application>Microsoft Office PowerPoint</Application>
  <PresentationFormat>Широкоэкранный</PresentationFormat>
  <Paragraphs>41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T3Font_6</vt:lpstr>
      <vt:lpstr>Тема Office</vt:lpstr>
      <vt:lpstr>Trade Defense Platform</vt:lpstr>
      <vt:lpstr>Постановка цели и задач</vt:lpstr>
      <vt:lpstr>Функциональность системы</vt:lpstr>
      <vt:lpstr>Архитектура системы</vt:lpstr>
      <vt:lpstr>Выбор технологий</vt:lpstr>
      <vt:lpstr>Использование технологий искусственного интеллекта</vt:lpstr>
      <vt:lpstr>Конкурентоспособность и перспективы внедрения</vt:lpstr>
      <vt:lpstr>Демонстрация системы</vt:lpstr>
      <vt:lpstr>Итоги разработки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Никита Сомов</dc:creator>
  <cp:lastModifiedBy>Никита Сомов</cp:lastModifiedBy>
  <cp:revision>28</cp:revision>
  <dcterms:created xsi:type="dcterms:W3CDTF">2025-10-18T16:31:43Z</dcterms:created>
  <dcterms:modified xsi:type="dcterms:W3CDTF">2025-10-18T21:39:27Z</dcterms:modified>
</cp:coreProperties>
</file>